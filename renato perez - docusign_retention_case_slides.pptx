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embeddedFontLst>
    <p:embeddedFont>
      <p:font typeface="Syne" panose="020B0604020202020204" charset="0"/>
      <p:regular r:id="rId10"/>
      <p:bold r:id="rId11"/>
    </p:embeddedFont>
    <p:embeddedFont>
      <p:font typeface="Syne Medium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6L1ziu5HaPxo/CC2azYbXDZ1e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82" y="1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FF5252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1-7A6F-894A-B4C8-C635CF22BBDB}"/>
              </c:ext>
            </c:extLst>
          </c:dPt>
          <c:dPt>
            <c:idx val="1"/>
            <c:invertIfNegative val="1"/>
            <c:bubble3D val="0"/>
            <c:spPr>
              <a:solidFill>
                <a:srgbClr val="4C00FF"/>
              </a:solidFill>
            </c:spPr>
            <c:extLst>
              <c:ext xmlns:c16="http://schemas.microsoft.com/office/drawing/2014/chart" uri="{C3380CC4-5D6E-409C-BE32-E72D297353CC}">
                <c16:uniqueId val="{00000003-7A6F-894A-B4C8-C635CF22BBDB}"/>
              </c:ext>
            </c:extLst>
          </c:dPt>
          <c:dPt>
            <c:idx val="2"/>
            <c:invertIfNegative val="1"/>
            <c:bubble3D val="0"/>
            <c:spPr>
              <a:solidFill>
                <a:srgbClr val="4C00FF"/>
              </a:solidFill>
            </c:spPr>
            <c:extLst>
              <c:ext xmlns:c16="http://schemas.microsoft.com/office/drawing/2014/chart" uri="{C3380CC4-5D6E-409C-BE32-E72D297353CC}">
                <c16:uniqueId val="{00000005-7A6F-894A-B4C8-C635CF22BBDB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7A6F-894A-B4C8-C635CF22BBD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 sends</c:v>
                </c:pt>
                <c:pt idx="1">
                  <c:v>1–5 sends</c:v>
                </c:pt>
                <c:pt idx="2">
                  <c:v>6–20 sends</c:v>
                </c:pt>
                <c:pt idx="3">
                  <c:v>20+ sends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49</c:v>
                </c:pt>
                <c:pt idx="2">
                  <c:v>51</c:v>
                </c:pt>
                <c:pt idx="3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7A6F-894A-B4C8-C635CF22BB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b"/>
        <c:majorGridlines/>
        <c:numFmt formatCode="0&quot;%&quot;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4C00FF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F5252"/>
              </a:solidFill>
            </c:spPr>
            <c:extLst>
              <c:ext xmlns:c16="http://schemas.microsoft.com/office/drawing/2014/chart" uri="{C3380CC4-5D6E-409C-BE32-E72D297353CC}">
                <c16:uniqueId val="{00000001-EEA5-CB4D-8CAD-45288E0ECE41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EEA5-CB4D-8CAD-45288E0ECE41}"/>
              </c:ext>
            </c:extLst>
          </c:dPt>
          <c:dLbls>
            <c:numFmt formatCode="&quot;$&quot;#,##0&quot;K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Activation
Improvement</c:v>
                </c:pt>
                <c:pt idx="1">
                  <c:v>Passive Churn
Recovery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</c:v>
                </c:pt>
                <c:pt idx="1">
                  <c:v>520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EEA5-CB4D-8CAD-45288E0ECE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"/>
          <c:min val="0"/>
        </c:scaling>
        <c:delete val="0"/>
        <c:axPos val="b"/>
        <c:majorGridlines/>
        <c:numFmt formatCode="&quot;$&quot;#,##0&quot;K&quot;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549f4c28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g3c549f4c28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yne"/>
              <a:buNone/>
              <a:defRPr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–"/>
              <a:defRPr>
                <a:latin typeface="Syne"/>
                <a:ea typeface="Syne"/>
                <a:cs typeface="Syne"/>
                <a:sym typeface="Syne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–"/>
              <a:defRPr>
                <a:latin typeface="Syne"/>
                <a:ea typeface="Syne"/>
                <a:cs typeface="Syne"/>
                <a:sym typeface="Syne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»"/>
              <a:defRPr>
                <a:latin typeface="Syne"/>
                <a:ea typeface="Syne"/>
                <a:cs typeface="Syne"/>
                <a:sym typeface="Syne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•"/>
              <a:defRPr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yne"/>
              <a:buNone/>
              <a:defRPr sz="44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yne"/>
              <a:buChar char="•"/>
              <a:defRPr sz="32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yne"/>
              <a:buChar char="–"/>
              <a:defRPr sz="28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Char char="•"/>
              <a:defRPr sz="24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–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»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Char char="•"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DocuSign logo in transparent PNG and vectorized SVG forma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6" y="336488"/>
            <a:ext cx="3187176" cy="319160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3727800" y="2589480"/>
            <a:ext cx="49590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Improving Self-Serve Retention at </a:t>
            </a:r>
            <a:endParaRPr sz="3400">
              <a:solidFill>
                <a:schemeClr val="dk1"/>
              </a:solidFill>
              <a:latin typeface="Syne Medium"/>
              <a:ea typeface="Syne Medium"/>
              <a:cs typeface="Syne Medium"/>
              <a:sym typeface="Syne Mediu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Docusign</a:t>
            </a:r>
            <a:endParaRPr sz="3400">
              <a:latin typeface="Syne Medium"/>
              <a:ea typeface="Syne Medium"/>
              <a:cs typeface="Syne Medium"/>
              <a:sym typeface="Syne Medium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body" idx="1"/>
          </p:nvPr>
        </p:nvSpPr>
        <p:spPr>
          <a:xfrm>
            <a:off x="457200" y="5501025"/>
            <a:ext cx="82296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Renato Perez</a:t>
            </a:r>
            <a:endParaRPr sz="1600"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3/8/2026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49f4c286_1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>
                <a:solidFill>
                  <a:schemeClr val="dk1"/>
                </a:solidFill>
              </a:rPr>
              <a:t>Context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2" name="Google Shape;92;g3c549f4c286_1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000" dirty="0">
                <a:latin typeface="Syne Medium"/>
                <a:ea typeface="Syne Medium"/>
                <a:cs typeface="Syne Medium"/>
                <a:sym typeface="Syne Medium"/>
              </a:rPr>
              <a:t>Objective:</a:t>
            </a:r>
            <a:r>
              <a:rPr lang="en-US" sz="2000" dirty="0">
                <a:solidFill>
                  <a:schemeClr val="dk1"/>
                </a:solidFill>
              </a:rPr>
              <a:t> Identify and size the top opportunities to improve self-serve customer retention.</a:t>
            </a:r>
            <a:endParaRPr sz="2000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18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Data Snapshot: 		Jan 31, 2017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Accounts analyzed: 		56,062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Total ARR: 			$16.1M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Churned accounts: 		15,174 (27%)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</a:rPr>
              <a:t>Churn ARR: 		$4.06M</a:t>
            </a:r>
            <a:endParaRPr sz="1800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18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Churn splits into: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Active churn:</a:t>
            </a:r>
            <a:r>
              <a:rPr lang="en-US" sz="1800" dirty="0">
                <a:solidFill>
                  <a:schemeClr val="dk1"/>
                </a:solidFill>
              </a:rPr>
              <a:t> 	</a:t>
            </a:r>
            <a:r>
              <a:rPr lang="en-US" sz="1800">
                <a:solidFill>
                  <a:schemeClr val="dk1"/>
                </a:solidFill>
              </a:rPr>
              <a:t>	$</a:t>
            </a:r>
            <a:r>
              <a:rPr lang="en-US" sz="1800" dirty="0">
                <a:solidFill>
                  <a:schemeClr val="dk1"/>
                </a:solidFill>
              </a:rPr>
              <a:t>2.33M ARR</a:t>
            </a:r>
            <a:endParaRPr sz="1800" dirty="0"/>
          </a:p>
          <a:p>
            <a:pPr marL="6858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rPr>
              <a:t>Passive churn:</a:t>
            </a:r>
            <a:r>
              <a:rPr lang="en-US" sz="1800" dirty="0">
                <a:solidFill>
                  <a:schemeClr val="dk1"/>
                </a:solidFill>
              </a:rPr>
              <a:t> 		$1.73M ARR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Core Driver of Retention: Product Usage</a:t>
            </a:r>
            <a:endParaRPr sz="3200"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20624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Retention is a value realization problem.</a:t>
            </a:r>
            <a:endParaRPr sz="280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Signal 1 — Product Usage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20+ sends: 17% churn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0–20 sends: 45–51% churn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Heavy users 3x more likely to retain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Signal 2 — Template Creation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Template users: 13.4% churn vs. 27.9% for non-template users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Strongest individual stickiness signal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Signal 3 — Billing Cycle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Monthly subscribers: 42% churn</a:t>
            </a:r>
            <a:endParaRPr/>
          </a:p>
          <a:p>
            <a:pPr marL="685800" lvl="0" indent="-291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Annual subscribers: 23% churn</a:t>
            </a:r>
            <a:endParaRPr/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4754880" y="1463040"/>
          <a:ext cx="40233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Opportunity 1: Improve Early Activation</a:t>
            </a:r>
            <a:endParaRPr sz="3200"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/>
          </a:bodyPr>
          <a:lstStyle/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Low-engagement accounts (0–20 sends) are the highest churn risk.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17,201 accounts | avg 48% churn | $1.82M churn ARR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Entry point: zero-send accounts — 4,405 accounts | 45% churn | $382K churn ARR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Interventions: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Guided onboarding to first sent agreement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Template creation as activation milestone (template users: 13.4% churn)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Lifecycle emails nudging agreement completion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A/B test design: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Variants: control (current flow) vs. guided first-send vs. template-first onboarding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Audience: new accounts only; stratify by plan type, region, acquisition channel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Primary metric: 7-day first-send rate | Secondary: 30-day churn rate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400–500 accounts/variant | Est. runtime: 2–3 weeks (80% power, a=0.05, MDE 8pp)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Syne Medium"/>
                <a:ea typeface="Syne Medium"/>
                <a:cs typeface="Syne Medium"/>
                <a:sym typeface="Syne Medium"/>
              </a:rPr>
              <a:t>Assumption:</a:t>
            </a:r>
            <a:r>
              <a:rPr lang="en-US"/>
              <a:t> 20pp churn reduction in zero-send segment → </a:t>
            </a:r>
            <a:r>
              <a:rPr lang="en-US">
                <a:highlight>
                  <a:srgbClr val="FFFF00"/>
                </a:highlight>
                <a:latin typeface="Syne Medium"/>
                <a:ea typeface="Syne Medium"/>
                <a:cs typeface="Syne Medium"/>
                <a:sym typeface="Syne Medium"/>
              </a:rPr>
              <a:t>$170K ARR preserved.</a:t>
            </a:r>
            <a:endParaRPr>
              <a:highlight>
                <a:srgbClr val="FFFF00"/>
              </a:highlight>
              <a:latin typeface="Syne Medium"/>
              <a:ea typeface="Syne Medium"/>
              <a:cs typeface="Syne Medium"/>
              <a:sym typeface="Syne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dk1"/>
                </a:solidFill>
              </a:rPr>
              <a:t>Opportunity 2: Reduce Passive Churn</a:t>
            </a:r>
            <a:endParaRPr sz="3200"/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10000"/>
          </a:bodyPr>
          <a:lstStyle/>
          <a:p>
            <a:pPr marL="685800" lvl="0" indent="-29146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Passive churn: 42% of churned accounts | $1.73M ARR lost.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Causes: payment failures, expired cards, billing issues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Dunning interventions (passive churn):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Automated payment retries + reminders before card expiry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Grace periods before account cancellation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Cancel-save flow A/B test (active churn):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Variants: no offer (control) vs. discount vs. plan downgrade vs. pause option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Audience: all accounts initiating cancellation; stratify by billing cycle, plan type, account tenure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Primary metric: 30-day save rate | Secondary: net ARR retained per variant</a:t>
            </a:r>
            <a:endParaRPr/>
          </a:p>
          <a:p>
            <a:pPr marL="685800" lvl="0" indent="-291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500–600 accounts/variant | Est. runtime: 3–4 weeks (80% power, a=0.05, MDE 8pp save rate)</a:t>
            </a:r>
            <a:endParaRPr/>
          </a:p>
          <a:p>
            <a:pPr marL="9144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latin typeface="Syne Medium"/>
                <a:ea typeface="Syne Medium"/>
                <a:cs typeface="Syne Medium"/>
                <a:sym typeface="Syne Medium"/>
              </a:rPr>
              <a:t>Assumption:</a:t>
            </a:r>
            <a:r>
              <a:rPr lang="en-US"/>
              <a:t> 30% passive churn recovery → </a:t>
            </a:r>
            <a:r>
              <a:rPr lang="en-US">
                <a:highlight>
                  <a:srgbClr val="FFFF00"/>
                </a:highlight>
                <a:latin typeface="Syne Medium"/>
                <a:ea typeface="Syne Medium"/>
                <a:cs typeface="Syne Medium"/>
                <a:sym typeface="Syne Medium"/>
              </a:rPr>
              <a:t>$520K ARR preserved.</a:t>
            </a:r>
            <a:endParaRPr>
              <a:highlight>
                <a:srgbClr val="FFFF00"/>
              </a:highlight>
              <a:latin typeface="Syne Medium"/>
              <a:ea typeface="Syne Medium"/>
              <a:cs typeface="Syne Medium"/>
              <a:sym typeface="Syn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</a:rPr>
              <a:t>Prioritization Logic</a:t>
            </a:r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2063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Prioritized by impact, feasibility, and data confidence.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1.    Passive churn recovery — </a:t>
            </a:r>
            <a:r>
              <a:rPr lang="en-US">
                <a:highlight>
                  <a:srgbClr val="FFFF00"/>
                </a:highlight>
              </a:rPr>
              <a:t>$520K ARR</a:t>
            </a:r>
            <a:endParaRPr>
              <a:highlight>
                <a:srgbClr val="FFFF00"/>
              </a:highlight>
            </a:endParaRPr>
          </a:p>
          <a:p>
            <a:pPr marL="628650" lvl="0" indent="-276542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Effort: Low | Confidence: High</a:t>
            </a:r>
            <a:endParaRPr sz="2989"/>
          </a:p>
          <a:p>
            <a:pPr marL="628650" lvl="0" indent="-27654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Fastest recoverable revenue — dunning + save flows</a:t>
            </a:r>
            <a:endParaRPr sz="2989"/>
          </a:p>
          <a:p>
            <a:pPr marL="62865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2.   Activation improvement — </a:t>
            </a:r>
            <a:r>
              <a:rPr lang="en-US">
                <a:highlight>
                  <a:srgbClr val="FFFF00"/>
                </a:highlight>
              </a:rPr>
              <a:t>$170K ARR</a:t>
            </a:r>
            <a:endParaRPr>
              <a:highlight>
                <a:srgbClr val="FFFF00"/>
              </a:highlight>
            </a:endParaRPr>
          </a:p>
          <a:p>
            <a:pPr marL="628650" lvl="0" indent="-276542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Effort: Medium | Confidence: High</a:t>
            </a:r>
            <a:endParaRPr sz="2989"/>
          </a:p>
          <a:p>
            <a:pPr marL="628650" lvl="0" indent="-27654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Addresses structural usage gap in 0–20 send segment</a:t>
            </a:r>
            <a:endParaRPr sz="2989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 3.   Billing cycle conversion — </a:t>
            </a:r>
            <a:r>
              <a:rPr lang="en-US">
                <a:highlight>
                  <a:srgbClr val="FFFF00"/>
                </a:highlight>
              </a:rPr>
              <a:t>high leverage</a:t>
            </a:r>
            <a:endParaRPr>
              <a:highlight>
                <a:srgbClr val="FFFF00"/>
              </a:highlight>
            </a:endParaRPr>
          </a:p>
          <a:p>
            <a:pPr marL="628650" lvl="0" indent="-276542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Effort: Low-Medium | Confidence: High</a:t>
            </a:r>
            <a:endParaRPr sz="2989"/>
          </a:p>
          <a:p>
            <a:pPr marL="628650" lvl="0" indent="-27654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3168"/>
              <a:buChar char="●"/>
            </a:pPr>
            <a:r>
              <a:rPr lang="en-US" sz="2989"/>
              <a:t>Monthly 42% vs Annual 23% churn — structural retention gain</a:t>
            </a:r>
            <a:endParaRPr sz="2989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Together these address both revenue leakage and long-term engagement.</a:t>
            </a:r>
            <a:endParaRPr/>
          </a:p>
        </p:txBody>
      </p:sp>
      <p:graphicFrame>
        <p:nvGraphicFramePr>
          <p:cNvPr id="118" name="Google Shape;118;p5"/>
          <p:cNvGraphicFramePr/>
          <p:nvPr/>
        </p:nvGraphicFramePr>
        <p:xfrm>
          <a:off x="4754880" y="1463040"/>
          <a:ext cx="40233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Assumptions &amp; Next Steps</a:t>
            </a:r>
            <a:endParaRPr/>
          </a:p>
        </p:txBody>
      </p:sp>
      <p:sp>
        <p:nvSpPr>
          <p:cNvPr id="124" name="Google Shape;12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Key assumptions: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Activation: 20pp churn reduction in zero-send segment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Passive churn: 30% recovery through improved dunning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Additional data requested: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Time-to-first-send metrics | Feature-level product telemetry | Acquisition channel data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A/B experiment 1 — Onboarding activation: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Control vs. guided first-send vs. template-first | Stratify: plan, region, channel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Primary: 7-day first-send rate | 400 accounts/variant | Runtime: 2–3 weeks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8421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A/B experiment 2 — Cancel-save flow: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Control vs. discount vs. plan downgrade vs. pause | Stratify: billing cycle, plan, tenure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Primary: 30-day save rate | 500 accounts/variant | Runtime: 3–4 weeks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A/B experiment 3 — Annual plan conversion: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Control vs. targeted offer at day 30 / first renewal | Stratify: plan type, tenure</a:t>
            </a:r>
            <a:endParaRPr/>
          </a:p>
          <a:p>
            <a:pPr marL="685800" lvl="0" indent="-2828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rPr lang="en-US"/>
              <a:t>Primary: monthly-to-annual conversion rate | Runtime: 4 weeks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On-screen Show (4:3)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Syne Medium</vt:lpstr>
      <vt:lpstr>Calibri</vt:lpstr>
      <vt:lpstr>Arial</vt:lpstr>
      <vt:lpstr>Syne</vt:lpstr>
      <vt:lpstr>Office Theme</vt:lpstr>
      <vt:lpstr>Improving Self-Serve Retention at  Docusign</vt:lpstr>
      <vt:lpstr>Context</vt:lpstr>
      <vt:lpstr>Core Driver of Retention: Product Usage</vt:lpstr>
      <vt:lpstr>Opportunity 1: Improve Early Activation</vt:lpstr>
      <vt:lpstr>Opportunity 2: Reduce Passive Churn</vt:lpstr>
      <vt:lpstr>Prioritization Logic</vt:lpstr>
      <vt:lpstr>Assumptions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Renato Perez</cp:lastModifiedBy>
  <cp:revision>1</cp:revision>
  <dcterms:created xsi:type="dcterms:W3CDTF">2013-01-27T09:14:16Z</dcterms:created>
  <dcterms:modified xsi:type="dcterms:W3CDTF">2026-03-09T07:07:59Z</dcterms:modified>
</cp:coreProperties>
</file>