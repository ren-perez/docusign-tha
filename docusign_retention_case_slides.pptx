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Syne"/>
      <p:regular r:id="rId13"/>
      <p:bold r:id="rId14"/>
    </p:embeddedFont>
    <p:embeddedFont>
      <p:font typeface="Syne Medium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q80IlgrM1cNrxa3wVzDxAdYP7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Syne-regular.fntdata"/><Relationship Id="rId14" Type="http://schemas.openxmlformats.org/officeDocument/2006/relationships/font" Target="fonts/Syne-bold.fntdata"/><Relationship Id="rId15" Type="http://schemas.openxmlformats.org/officeDocument/2006/relationships/font" Target="fonts/SyneMedium-regular.fntdata"/><Relationship Id="rId16" Type="http://schemas.openxmlformats.org/officeDocument/2006/relationships/font" Target="fonts/SyneMedium-bold.fntdata"/><Relationship Id="rId17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62728"/>
              </a:solidFill>
            </c:spPr>
          </c:dPt>
          <c:dPt>
            <c:idx val="1"/>
            <c:spPr>
              <a:solidFill>
                <a:srgbClr val="D62728"/>
              </a:solidFill>
            </c:spPr>
          </c:dPt>
          <c:dPt>
            <c:idx val="2"/>
            <c:spPr>
              <a:solidFill>
                <a:srgbClr val="D62728"/>
              </a:solidFill>
            </c:spPr>
          </c:dPt>
          <c:dPt>
            <c:idx val="3"/>
            <c:spPr>
              <a:solidFill>
                <a:srgbClr val="2CA02C"/>
              </a:solidFill>
            </c:spPr>
          </c:dPt>
          <c:cat>
            <c:strRef>
              <c:f>Sheet1!$A$2:$A$5</c:f>
              <c:strCache>
                <c:ptCount val="4"/>
                <c:pt idx="0">
                  <c:v>0 sends</c:v>
                </c:pt>
                <c:pt idx="1">
                  <c:v>1–5 sends</c:v>
                </c:pt>
                <c:pt idx="2">
                  <c:v>6–20 sends</c:v>
                </c:pt>
                <c:pt idx="3">
                  <c:v>20+ sends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49</c:v>
                </c:pt>
                <c:pt idx="2">
                  <c:v>51</c:v>
                </c:pt>
                <c:pt idx="3">
                  <c:v>17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b"/>
        <c:majorGridlines/>
        <c:numFmt formatCode="0&quot;%&quot;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FF7F0E"/>
              </a:solidFill>
            </c:spPr>
          </c:dPt>
          <c:dPt>
            <c:idx val="1"/>
            <c:spPr>
              <a:solidFill>
                <a:srgbClr val="1F77B4"/>
              </a:solidFill>
            </c:spPr>
          </c:dPt>
          <c:cat>
            <c:strRef>
              <c:f>Sheet1!$A$2:$A$3</c:f>
              <c:strCache>
                <c:ptCount val="2"/>
                <c:pt idx="0">
                  <c:v>Activation
Improvement</c:v>
                </c:pt>
                <c:pt idx="1">
                  <c:v>Passive Churn
Recovery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520</c:v>
                </c:pt>
              </c:numCache>
            </c:numRef>
          </c:val>
        </c:ser>
        <c:dLbls>
          <c:numFmt formatCode="&quot;$&quot;#,##0&quot;K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b"/>
        <c:majorGridlines/>
        <c:numFmt formatCode="&quot;$&quot;#,##0&quot;K&quot;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49f4c28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549f4c28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–"/>
              <a:defRPr>
                <a:latin typeface="Syne"/>
                <a:ea typeface="Syne"/>
                <a:cs typeface="Syne"/>
                <a:sym typeface="Syne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–"/>
              <a:defRPr>
                <a:latin typeface="Syne"/>
                <a:ea typeface="Syne"/>
                <a:cs typeface="Syne"/>
                <a:sym typeface="Syne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»"/>
              <a:defRPr>
                <a:latin typeface="Syne"/>
                <a:ea typeface="Syne"/>
                <a:cs typeface="Syne"/>
                <a:sym typeface="Syne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yne"/>
              <a:buNone/>
              <a:defRPr i="0" sz="44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yne"/>
              <a:buChar char="•"/>
              <a:defRPr i="0" sz="32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Char char="–"/>
              <a:defRPr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Char char="•"/>
              <a:defRPr i="0" sz="24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–"/>
              <a:defRPr i="0" sz="20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»"/>
              <a:defRPr i="0" sz="20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i="0" sz="20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i="0" sz="20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i="0" sz="20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i="0" sz="20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857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Improving Self-Serve Retention </a:t>
            </a:r>
            <a:endParaRPr sz="3400">
              <a:solidFill>
                <a:schemeClr val="dk1"/>
              </a:solidFill>
              <a:latin typeface="Syne Medium"/>
              <a:ea typeface="Syne Medium"/>
              <a:cs typeface="Syne Medium"/>
              <a:sym typeface="Syne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at DocuSign</a:t>
            </a:r>
            <a:endParaRPr sz="3400">
              <a:latin typeface="Syne Medium"/>
              <a:ea typeface="Syne Medium"/>
              <a:cs typeface="Syne Medium"/>
              <a:sym typeface="Syne Medium"/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49833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600"/>
              <a:t>Renato Perez</a:t>
            </a:r>
            <a:endParaRPr sz="1600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600"/>
              <a:t>3/6/2026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549f4c286_1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Context</a:t>
            </a:r>
            <a:endParaRPr sz="3200"/>
          </a:p>
        </p:txBody>
      </p:sp>
      <p:sp>
        <p:nvSpPr>
          <p:cNvPr id="91" name="Google Shape;91;g3c549f4c286_1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●"/>
            </a:pPr>
            <a:r>
              <a:rPr lang="en-US"/>
              <a:t>Objective: Identify and size the top opportunities to improve self-serve customer retention.</a:t>
            </a:r>
            <a:endParaRPr sz="1400">
              <a:solidFill>
                <a:srgbClr val="00000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●"/>
            </a:pPr>
            <a:r>
              <a:rPr lang="en-US"/>
              <a:t>Data Snapshot: Jan 31, 2017</a:t>
            </a:r>
            <a:endParaRPr sz="1400">
              <a:solidFill>
                <a:srgbClr val="000000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●"/>
            </a:pPr>
            <a:r>
              <a:rPr lang="en-US"/>
              <a:t>Accounts analyzed: 56,062</a:t>
            </a:r>
            <a:endParaRPr sz="1400">
              <a:solidFill>
                <a:srgbClr val="000000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●"/>
            </a:pPr>
            <a:r>
              <a:rPr lang="en-US"/>
              <a:t>Total ARR: $16.1M</a:t>
            </a:r>
            <a:endParaRPr sz="1400">
              <a:solidFill>
                <a:srgbClr val="000000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●"/>
            </a:pPr>
            <a:r>
              <a:rPr lang="en-US"/>
              <a:t>Churned accounts: 15,174 (27%)</a:t>
            </a:r>
            <a:endParaRPr sz="1400">
              <a:solidFill>
                <a:srgbClr val="000000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●"/>
            </a:pPr>
            <a:r>
              <a:rPr lang="en-US"/>
              <a:t>Churn ARR: $4.06M</a:t>
            </a:r>
            <a:endParaRPr sz="1400">
              <a:solidFill>
                <a:srgbClr val="00000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●"/>
            </a:pPr>
            <a:r>
              <a:rPr lang="en-US"/>
              <a:t>Churn splits into:</a:t>
            </a:r>
            <a:endParaRPr sz="1400">
              <a:solidFill>
                <a:srgbClr val="000000"/>
              </a:solidFill>
            </a:endParaRPr>
          </a:p>
          <a:p>
            <a:pPr indent="-37084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28571"/>
              <a:buFont typeface="Syne"/>
              <a:buChar char="○"/>
            </a:pPr>
            <a:r>
              <a:rPr lang="en-US"/>
              <a:t>Active churn: $2.33M ARR</a:t>
            </a:r>
            <a:endParaRPr sz="1400">
              <a:solidFill>
                <a:srgbClr val="000000"/>
              </a:solidFill>
            </a:endParaRPr>
          </a:p>
          <a:p>
            <a:pPr indent="-37084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4285"/>
              <a:buFont typeface="Syne"/>
              <a:buChar char="○"/>
            </a:pPr>
            <a:r>
              <a:rPr lang="en-US"/>
              <a:t>Passive churn: $1.73M ARR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</a:rPr>
              <a:t>Core Driver of Retention: Product Usage</a:t>
            </a:r>
            <a:endParaRPr sz="3200"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457200" y="160020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86080" marL="457200"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Retention is a value realization problem.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Signal 1 — Product Usage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20+ sends: 17% churn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0–20 sends: 45–51% churn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Heavy users ~3x more likely to retain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Signal 2 — Template Creation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Template users: 13.4% churn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Non-template users: 27.9% churn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Strongest stickiness indicator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Signal 3 — Billing Cycle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Monthly subscribers: 42% churn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Annual subscribers: 23% churn</a:t>
            </a:r>
            <a:endParaRPr sz="2800">
              <a:solidFill>
                <a:schemeClr val="dk1"/>
              </a:solidFill>
            </a:endParaRPr>
          </a:p>
        </p:txBody>
      </p:sp>
      <p:graphicFrame>
        <p:nvGraphicFramePr>
          <p:cNvPr id="98" name="Chart 97"/>
          <p:cNvGraphicFramePr>
            <a:graphicFrameLocks noGrp="1"/>
          </p:cNvGraphicFramePr>
          <p:nvPr/>
        </p:nvGraphicFramePr>
        <p:xfrm>
          <a:off x="4754880" y="1463040"/>
          <a:ext cx="4023360" cy="475488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</a:rPr>
              <a:t>Opportunity 1: Improve Early Activation</a:t>
            </a:r>
            <a:endParaRPr sz="3200"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86080" marL="457200"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Low-engagement accounts (0–20 sends) are the highest churn risk.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17,201 accounts | avg 48% churn | ~$1.82M churn ARR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Entry point: zero-send accounts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4,405 accounts | 45% churn | ~$382K churn ARR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Potential interventions: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Guided onboarding to first sent agreement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Template creation as activation milestone — template users churn at 13.4%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Lifecycle emails nudging agreement completion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Assumption: Reduce churn by 20pp in zero-send segment → ~$170K ARR preserved.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</a:rPr>
              <a:t>Opportunity 2: Reduce Passive Churn</a:t>
            </a:r>
            <a:endParaRPr sz="3200"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86080" marL="457200"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Passive churn: 42% of churned accounts | ~$1.73M ARR lost.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Typical causes: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Payment failures / expired credit cards / billing issues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Dunning &amp; billing interventions: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Automated payment retries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Payment update reminders before card expiry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Grace periods before account cancellation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Active churn intervention — cancel-save flow: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Test targeted offers at cancellation intent: discount, plan downgrade, or pause option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Design as A/B experiment to measure save rate and ARR impact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Assumption: Recover 30% of passive churn → ~$520K ARR preserved.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Prioritization Logic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457200" y="160020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86080" marL="457200"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Prioritized by impact, feasibility, and data confidence.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1.  Passive churn recovery — ~$520K ARR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Effort: Low | Confidence: High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Fastest recoverable revenue — dunning + save flows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2.  Activation improvement — ~$170K ARR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Effort: Medium | Confidence: High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Addresses structural usage gap in 0–20 send segment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3.  Billing cycle conversion — high leverage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Effort: Low-Medium | Confidence: High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Monthly 42% vs Annual 23% churn — structural retention gain</a:t>
            </a:r>
            <a:endParaRPr sz="2800">
              <a:solidFill>
                <a:schemeClr val="dk1"/>
              </a:solidFill>
            </a:endParaRPr>
          </a:p>
        </p:txBody>
      </p:sp>
      <p:graphicFrame>
        <p:nvGraphicFramePr>
          <p:cNvPr id="116" name="Chart 115"/>
          <p:cNvGraphicFramePr>
            <a:graphicFrameLocks noGrp="1"/>
          </p:cNvGraphicFramePr>
          <p:nvPr/>
        </p:nvGraphicFramePr>
        <p:xfrm>
          <a:off x="4754880" y="1463040"/>
          <a:ext cx="4023360" cy="475488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Assumptions &amp; Next Steps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86080" marL="457200"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Key assumptions: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Activation: 20pp churn reduction in zero-send segment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Passive churn: ~30% recovery through improved dunning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Additional data requested: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Time-to-first-send metrics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Feature-level product telemetry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Acquisition channel data</a:t>
            </a:r>
            <a:endParaRPr sz="2800"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86080" marL="457200" lv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</a:rPr>
              <a:t>A/B experiments to run: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Cancel-save flow: discount vs. plan downgrade vs. pause option at cancellation intent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Onboarding: guided first-send vs. template-first vs. control</a:t>
            </a:r>
            <a:endParaRPr sz="2800">
              <a:solidFill>
                <a:schemeClr val="dk1"/>
              </a:solidFill>
            </a:endParaRPr>
          </a:p>
          <a:p>
            <a:pPr indent="-342900" marL="685800"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800">
                <a:solidFill>
                  <a:schemeClr val="dk1"/>
                </a:solidFill>
              </a:rPr>
              <a:t>Annual plan prompts: test conversion offer at key lifecycle moments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